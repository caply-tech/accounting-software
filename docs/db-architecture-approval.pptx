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12188952" cy="2743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 REQUEST · ACCOUNTING MANAGEMENT SOFTWARE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3317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Architecture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explanation of how the app stores its data safely on your own device — checked against the actual screens, with one question still needing your decision.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review · tech@caply.in · 8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Databases, Not One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registry, and one isolated file per business — matching the mockup's “Each business maintains independent, completely separate records.”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2F5F3"/>
          </a:solidFill>
          <a:ln w="15875">
            <a:solidFill>
              <a:srgbClr val="2A6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019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core.db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494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for the whole installation — always open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registry — the 4 businesses on Multi-Branch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directory — Sign In authenticates here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permissions matrix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First-run setup choice &amp; installation settings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log &amp; cross-business notifications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212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before any single business is even chosen.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5422392" cy="4160520"/>
          </a:xfrm>
          <a:prstGeom prst="roundRect">
            <a:avLst>
              <a:gd name="adj" fmla="val 1758"/>
            </a:avLst>
          </a:prstGeom>
          <a:solidFill>
            <a:srgbClr val="F2F5F3"/>
          </a:solidFill>
          <a:ln w="15875">
            <a:solidFill>
              <a:srgbClr val="1421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9019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biz_&lt;id&gt;.db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22494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encrypted file per business — opened on selection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29400" y="26974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of accounts, ledger &amp; invoices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Payroll, employees &amp; attendance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valuations &amp; depreciation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calendar &amp; reports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— scoped to this business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5212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business swaps which file is open — nothing else.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356616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filing cabinets are locked with encryption — they unlock using the same master password you set up in the app.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 — Approval Request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SHARED REGISTRY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core.db — 9 Tables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E4EFEA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3749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E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pages 1, 3, 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577840" cy="475488"/>
          </a:xfrm>
          <a:prstGeom prst="roundRect">
            <a:avLst>
              <a:gd name="adj" fmla="val 11538"/>
            </a:avLst>
          </a:prstGeom>
          <a:solidFill>
            <a:srgbClr val="F2F5F3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173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88920" y="14173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businesses on the Multi-Branch screen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84248"/>
            <a:ext cx="5577840" cy="475488"/>
          </a:xfrm>
          <a:prstGeom prst="roundRect">
            <a:avLst>
              <a:gd name="adj" fmla="val 11538"/>
            </a:avLst>
          </a:prstGeom>
          <a:solidFill>
            <a:srgbClr val="E9EFED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98424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88920" y="198424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installation-wide login directory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51176"/>
            <a:ext cx="5577840" cy="475488"/>
          </a:xfrm>
          <a:prstGeom prst="roundRect">
            <a:avLst>
              <a:gd name="adj" fmla="val 11538"/>
            </a:avLst>
          </a:prstGeom>
          <a:solidFill>
            <a:srgbClr val="F2F5F3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55117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88920" y="255117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/ Director / Manager / Accountant / Staff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18104"/>
            <a:ext cx="5577840" cy="475488"/>
          </a:xfrm>
          <a:prstGeom prst="roundRect">
            <a:avLst>
              <a:gd name="adj" fmla="val 11538"/>
            </a:avLst>
          </a:prstGeom>
          <a:solidFill>
            <a:srgbClr val="E9EFED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11810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user_business_roles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88920" y="311810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user's role, per 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85032"/>
            <a:ext cx="5577840" cy="475488"/>
          </a:xfrm>
          <a:prstGeom prst="roundRect">
            <a:avLst>
              <a:gd name="adj" fmla="val 11538"/>
            </a:avLst>
          </a:prstGeom>
          <a:solidFill>
            <a:srgbClr val="F2F5F3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368503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permissions_matrix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88920" y="368503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 × role grid on Security &amp; Admin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1417320"/>
            <a:ext cx="5577840" cy="475488"/>
          </a:xfrm>
          <a:prstGeom prst="roundRect">
            <a:avLst>
              <a:gd name="adj" fmla="val 11538"/>
            </a:avLst>
          </a:prstGeom>
          <a:solidFill>
            <a:srgbClr val="F2F5F3"/>
          </a:solidFill>
          <a:ln/>
        </p:spPr>
      </p:sp>
      <p:sp>
        <p:nvSpPr>
          <p:cNvPr id="22" name="Text 20"/>
          <p:cNvSpPr/>
          <p:nvPr/>
        </p:nvSpPr>
        <p:spPr>
          <a:xfrm>
            <a:off x="6473952" y="14173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access_requests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641080" y="14173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Access Requests panel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1984248"/>
            <a:ext cx="5577840" cy="475488"/>
          </a:xfrm>
          <a:prstGeom prst="roundRect">
            <a:avLst>
              <a:gd name="adj" fmla="val 11538"/>
            </a:avLst>
          </a:prstGeom>
          <a:solidFill>
            <a:srgbClr val="E9EFED"/>
          </a:solidFill>
          <a:ln/>
        </p:spPr>
      </p:sp>
      <p:sp>
        <p:nvSpPr>
          <p:cNvPr id="25" name="Text 23"/>
          <p:cNvSpPr/>
          <p:nvPr/>
        </p:nvSpPr>
        <p:spPr>
          <a:xfrm>
            <a:off x="6473952" y="198424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app_settings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41080" y="198424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First-Run Setup answer, master password hash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2551176"/>
            <a:ext cx="5577840" cy="475488"/>
          </a:xfrm>
          <a:prstGeom prst="roundRect">
            <a:avLst>
              <a:gd name="adj" fmla="val 11538"/>
            </a:avLst>
          </a:prstGeom>
          <a:solidFill>
            <a:srgbClr val="F2F5F3"/>
          </a:solidFill>
          <a:ln/>
        </p:spPr>
      </p:sp>
      <p:sp>
        <p:nvSpPr>
          <p:cNvPr id="28" name="Text 26"/>
          <p:cNvSpPr/>
          <p:nvPr/>
        </p:nvSpPr>
        <p:spPr>
          <a:xfrm>
            <a:off x="6473952" y="255117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backup_log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641080" y="255117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Restore panel history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3118104"/>
            <a:ext cx="5577840" cy="475488"/>
          </a:xfrm>
          <a:prstGeom prst="roundRect">
            <a:avLst>
              <a:gd name="adj" fmla="val 11538"/>
            </a:avLst>
          </a:prstGeom>
          <a:solidFill>
            <a:srgbClr val="E9EFED"/>
          </a:solidFill>
          <a:ln/>
        </p:spPr>
      </p:sp>
      <p:sp>
        <p:nvSpPr>
          <p:cNvPr id="31" name="Text 29"/>
          <p:cNvSpPr/>
          <p:nvPr/>
        </p:nvSpPr>
        <p:spPr>
          <a:xfrm>
            <a:off x="6473952" y="311810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641080" y="311810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cross-business Dashboard notification feed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 — Approval Request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PER-BUSINESS SCHEMA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Coverage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below lives inside each business's own file. All seven are confirmed.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2F5F3"/>
          </a:solidFill>
          <a:ln w="9525">
            <a:solidFill>
              <a:srgbClr val="D8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2743200" cy="54864"/>
          </a:xfrm>
          <a:prstGeom prst="rect">
            <a:avLst/>
          </a:prstGeom>
          <a:solidFill>
            <a:srgbClr val="3E7A5F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892808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&amp; Finance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2468880"/>
            <a:ext cx="2414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Ledger, invoices, bank reconciliation, budgets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" y="3273552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E4EFEA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32644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E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confirmed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64992" y="169164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2F5F3"/>
          </a:solidFill>
          <a:ln w="9525">
            <a:solidFill>
              <a:srgbClr val="D8DE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1691640"/>
            <a:ext cx="2743200" cy="54864"/>
          </a:xfrm>
          <a:prstGeom prst="rect">
            <a:avLst/>
          </a:prstGeom>
          <a:solidFill>
            <a:srgbClr val="3E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3529584" y="1892808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Payroll &amp; Staff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9584" y="2468880"/>
            <a:ext cx="2414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Employees, attendance, leave, payroll runs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29584" y="3273552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E4EFEA"/>
          </a:solidFill>
          <a:ln/>
        </p:spPr>
      </p:sp>
      <p:sp>
        <p:nvSpPr>
          <p:cNvPr id="16" name="Text 14"/>
          <p:cNvSpPr/>
          <p:nvPr/>
        </p:nvSpPr>
        <p:spPr>
          <a:xfrm>
            <a:off x="3529584" y="32644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E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page 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72784" y="169164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2F5F3"/>
          </a:solidFill>
          <a:ln w="9525">
            <a:solidFill>
              <a:srgbClr val="D8DE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1691640"/>
            <a:ext cx="2743200" cy="54864"/>
          </a:xfrm>
          <a:prstGeom prst="rect">
            <a:avLst/>
          </a:prstGeom>
          <a:solidFill>
            <a:srgbClr val="3E7A5F"/>
          </a:solidFill>
          <a:ln/>
        </p:spPr>
      </p:sp>
      <p:sp>
        <p:nvSpPr>
          <p:cNvPr id="19" name="Text 17"/>
          <p:cNvSpPr/>
          <p:nvPr/>
        </p:nvSpPr>
        <p:spPr>
          <a:xfrm>
            <a:off x="6437376" y="1892808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&amp; Valuation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37376" y="2468880"/>
            <a:ext cx="2414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register, depreciation, valuations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37376" y="3273552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E4EFEA"/>
          </a:solidFill>
          <a:ln/>
        </p:spPr>
      </p:sp>
      <p:sp>
        <p:nvSpPr>
          <p:cNvPr id="22" name="Text 20"/>
          <p:cNvSpPr/>
          <p:nvPr/>
        </p:nvSpPr>
        <p:spPr>
          <a:xfrm>
            <a:off x="6437376" y="32644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E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confirmed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180576" y="169164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2F5F3"/>
          </a:solidFill>
          <a:ln w="9525">
            <a:solidFill>
              <a:srgbClr val="D8DE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80576" y="1691640"/>
            <a:ext cx="2743200" cy="54864"/>
          </a:xfrm>
          <a:prstGeom prst="rect">
            <a:avLst/>
          </a:prstGeom>
          <a:solidFill>
            <a:srgbClr val="3E7A5F"/>
          </a:solidFill>
          <a:ln/>
        </p:spPr>
      </p:sp>
      <p:sp>
        <p:nvSpPr>
          <p:cNvPr id="25" name="Text 23"/>
          <p:cNvSpPr/>
          <p:nvPr/>
        </p:nvSpPr>
        <p:spPr>
          <a:xfrm>
            <a:off x="9345168" y="1892808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Management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45168" y="2468880"/>
            <a:ext cx="2414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purchases, adjustments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45168" y="3273552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E4EFEA"/>
          </a:solidFill>
          <a:ln/>
        </p:spPr>
      </p:sp>
      <p:sp>
        <p:nvSpPr>
          <p:cNvPr id="28" name="Text 26"/>
          <p:cNvSpPr/>
          <p:nvPr/>
        </p:nvSpPr>
        <p:spPr>
          <a:xfrm>
            <a:off x="9345168" y="32644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E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page 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822192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2F5F3"/>
          </a:solidFill>
          <a:ln w="9525">
            <a:solidFill>
              <a:srgbClr val="D8DE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822192"/>
            <a:ext cx="2743200" cy="54864"/>
          </a:xfrm>
          <a:prstGeom prst="rect">
            <a:avLst/>
          </a:prstGeom>
          <a:solidFill>
            <a:srgbClr val="3E7A5F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4023360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&amp; Calendar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1792" y="4599432"/>
            <a:ext cx="2414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Rooms, events, bookings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1792" y="5404104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E4EFEA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" y="53949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E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page 6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64992" y="3822192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2F5F3"/>
          </a:solidFill>
          <a:ln w="9525">
            <a:solidFill>
              <a:srgbClr val="D8DE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64992" y="3822192"/>
            <a:ext cx="2743200" cy="54864"/>
          </a:xfrm>
          <a:prstGeom prst="rect">
            <a:avLst/>
          </a:prstGeom>
          <a:solidFill>
            <a:srgbClr val="3E7A5F"/>
          </a:solidFill>
          <a:ln/>
        </p:spPr>
      </p:sp>
      <p:sp>
        <p:nvSpPr>
          <p:cNvPr id="37" name="Text 35"/>
          <p:cNvSpPr/>
          <p:nvPr/>
        </p:nvSpPr>
        <p:spPr>
          <a:xfrm>
            <a:off x="3529584" y="4023360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529584" y="4599432"/>
            <a:ext cx="2414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&amp; generated report metadata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529584" y="5404104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E4EFEA"/>
          </a:solidFill>
          <a:ln/>
        </p:spPr>
      </p:sp>
      <p:sp>
        <p:nvSpPr>
          <p:cNvPr id="40" name="Text 38"/>
          <p:cNvSpPr/>
          <p:nvPr/>
        </p:nvSpPr>
        <p:spPr>
          <a:xfrm>
            <a:off x="3529584" y="53949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E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page 7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72784" y="3822192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2F5F3"/>
          </a:solidFill>
          <a:ln w="9525">
            <a:solidFill>
              <a:srgbClr val="D8DE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72784" y="3822192"/>
            <a:ext cx="2743200" cy="54864"/>
          </a:xfrm>
          <a:prstGeom prst="rect">
            <a:avLst/>
          </a:prstGeom>
          <a:solidFill>
            <a:srgbClr val="3E7A5F"/>
          </a:solidFill>
          <a:ln/>
        </p:spPr>
      </p:sp>
      <p:sp>
        <p:nvSpPr>
          <p:cNvPr id="43" name="Text 41"/>
          <p:cNvSpPr/>
          <p:nvPr/>
        </p:nvSpPr>
        <p:spPr>
          <a:xfrm>
            <a:off x="6437376" y="4023360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Admin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437376" y="4599432"/>
            <a:ext cx="2414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log, scoped per business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37376" y="5404104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E4EFEA"/>
          </a:solidFill>
          <a:ln/>
        </p:spPr>
      </p:sp>
      <p:sp>
        <p:nvSpPr>
          <p:cNvPr id="46" name="Text 44"/>
          <p:cNvSpPr/>
          <p:nvPr/>
        </p:nvSpPr>
        <p:spPr>
          <a:xfrm>
            <a:off x="6437376" y="53949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E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page 8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 — Approval Request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PER-BUSINESS SCHEMA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&amp; Finance  ·  Payroll &amp; Staff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532120" cy="4892040"/>
          </a:xfrm>
          <a:prstGeom prst="roundRect">
            <a:avLst>
              <a:gd name="adj" fmla="val 1308"/>
            </a:avLst>
          </a:prstGeom>
          <a:solidFill>
            <a:srgbClr val="F2F5F3"/>
          </a:solidFill>
          <a:ln w="9525">
            <a:solidFill>
              <a:srgbClr val="D8DE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45336"/>
            <a:ext cx="5129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&amp; Finance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1920240"/>
            <a:ext cx="5129784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chart_of_accounts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of account types: what's owned, owed, earned, spent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2527663"/>
            <a:ext cx="5129784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journal_entries / journal_lines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money entry; the two sides always have to match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3135086"/>
            <a:ext cx="5129784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bank_accounts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&amp; Cash Balance shown on the Dashboard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3742509"/>
            <a:ext cx="5129784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bank_reconciliations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 bank statement to the books, on a given date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8368" y="4349931"/>
            <a:ext cx="5129784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invoices / invoice_line_items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invoices and what's on each one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4957354"/>
            <a:ext cx="5129784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combined list of every money movement, for Dashboard &amp; Reports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" y="5564777"/>
            <a:ext cx="5129784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budgets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spend vs. actual spend, by category and month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9632" y="1417320"/>
            <a:ext cx="5532120" cy="4892040"/>
          </a:xfrm>
          <a:prstGeom prst="roundRect">
            <a:avLst>
              <a:gd name="adj" fmla="val 1308"/>
            </a:avLst>
          </a:prstGeom>
          <a:solidFill>
            <a:srgbClr val="F2F5F3"/>
          </a:solidFill>
          <a:ln w="9525">
            <a:solidFill>
              <a:srgbClr val="D8DE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545336"/>
            <a:ext cx="5129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Payroll &amp; Staff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1920240"/>
            <a:ext cx="51297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staff list, shown on the Employee Overview screen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0" y="2770632"/>
            <a:ext cx="51297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/ absent / late / on leave, per person per day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3621024"/>
            <a:ext cx="51297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leave_requests / leave_balances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applications and how many days are left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0" y="4471416"/>
            <a:ext cx="51297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payroll_runs / payroll_items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month's payroll, locked once it's finalised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0" y="5321808"/>
            <a:ext cx="51297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employment_contracts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 and start/expiry dates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 — Approval Request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PER-BUSINESS SCHEMA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&amp; Valuation  ·  Inventory Management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532120" cy="4892040"/>
          </a:xfrm>
          <a:prstGeom prst="roundRect">
            <a:avLst>
              <a:gd name="adj" fmla="val 1308"/>
            </a:avLst>
          </a:prstGeom>
          <a:solidFill>
            <a:srgbClr val="F2F5F3"/>
          </a:solidFill>
          <a:ln w="9525">
            <a:solidFill>
              <a:srgbClr val="D8DE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45336"/>
            <a:ext cx="5129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&amp; Valuation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1920240"/>
            <a:ext cx="5129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&amp; property the business owns, and their cost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3337560"/>
            <a:ext cx="5129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asset_depreciation_schedule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value each asset loses, month by month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4754880"/>
            <a:ext cx="5129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asset_valuations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history of what each asset was valued at, and when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532120" cy="4892040"/>
          </a:xfrm>
          <a:prstGeom prst="roundRect">
            <a:avLst>
              <a:gd name="adj" fmla="val 1308"/>
            </a:avLst>
          </a:prstGeom>
          <a:solidFill>
            <a:srgbClr val="F2F5F3"/>
          </a:solidFill>
          <a:ln w="9525">
            <a:solidFill>
              <a:srgbClr val="D8DE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545336"/>
            <a:ext cx="5129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Management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5129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inventory_items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in stock, their cost, and the minimum level to keep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0" y="3337560"/>
            <a:ext cx="5129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inventory_purchases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bought in — also adds a row to the money list above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0" y="4754880"/>
            <a:ext cx="5129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inventory_adjustments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added, removed, or corrected, with a reason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 — Approval Request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PER-BUSINESS SCHEMA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&amp; Calendar  ·  Reports &amp; Audit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532120" cy="4892040"/>
          </a:xfrm>
          <a:prstGeom prst="roundRect">
            <a:avLst>
              <a:gd name="adj" fmla="val 1308"/>
            </a:avLst>
          </a:prstGeom>
          <a:solidFill>
            <a:srgbClr val="F2F5F3"/>
          </a:solidFill>
          <a:ln w="9525">
            <a:solidFill>
              <a:srgbClr val="D8DE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45336"/>
            <a:ext cx="5129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&amp; Calendar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1920240"/>
            <a:ext cx="5129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meeting_rooms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room's name and how many people it holds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3337560"/>
            <a:ext cx="5129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calendar_events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and events on the calendar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4754880"/>
            <a:ext cx="5129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room_bookings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room is booked, and when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532120" cy="4892040"/>
          </a:xfrm>
          <a:prstGeom prst="roundRect">
            <a:avLst>
              <a:gd name="adj" fmla="val 1308"/>
            </a:avLst>
          </a:prstGeom>
          <a:solidFill>
            <a:srgbClr val="F2F5F3"/>
          </a:solidFill>
          <a:ln w="9525">
            <a:solidFill>
              <a:srgbClr val="D8DE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545336"/>
            <a:ext cx="5129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 &amp;  Audit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5129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report_templates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report designs, ready to run again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0" y="3337560"/>
            <a:ext cx="5129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generated_reports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of each report made — the file itself is saved separately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0" y="4754880"/>
            <a:ext cx="5129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what, and when, for this one business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 — Approval Request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RATIONALE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Shape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990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3441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business gets its own separate file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51560" y="16733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can only ever look inside the one filing cabinet that's currently open. There's no way for a mistake in the software to accidentally show one business's money records to another.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51560" y="20299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giant shared filing cabinet with a “business name” label on every drawer — where a mislabeled drawer could leak into the wrong hands.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6609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6060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record gets a unique, unguessable ID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51560" y="293522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if we later let two devices sync their own copies of the data, their records will never accidentally get the same ID and collide.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32918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simple counting numbers (1, 2, 3…), which can clash the moment two separate devices both create a “record #4.”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9227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386791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combined list of every money movement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51560" y="419709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and Reports screens both need to show a single timeline of sales, purchases, payroll and manual entries.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45537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gathering that list fresh from five different tables every time a screen loads, which gets slow as the records pile up.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51846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5129784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are saved as files, not inside the database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051560" y="54589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PDFs and Excel reports are saved to disk as ordinary files; the database just keeps a note of where to find them.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51560" y="581558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database itself small, so backing it up stays quick and the file stays easy to copy to another computer.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 — Approval Request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DECISIONS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Confirmed — One Still Open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earlier questions have been settled and are already built into the design above. One remains.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713232"/>
          </a:xfrm>
          <a:prstGeom prst="roundRect">
            <a:avLst>
              <a:gd name="adj" fmla="val 8974"/>
            </a:avLst>
          </a:prstGeom>
          <a:solidFill>
            <a:srgbClr val="E4EFEA"/>
          </a:solidFill>
          <a:ln w="12700">
            <a:solidFill>
              <a:srgbClr val="3E7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90195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E7A5F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783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Reconciliation now has a place to be saved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bank_reconciliations has been added and is part of the design.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11247120" cy="713232"/>
          </a:xfrm>
          <a:prstGeom prst="roundRect">
            <a:avLst>
              <a:gd name="adj" fmla="val 8974"/>
            </a:avLst>
          </a:prstGeom>
          <a:solidFill>
            <a:srgbClr val="E4EFEA"/>
          </a:solidFill>
          <a:ln w="12700">
            <a:solidFill>
              <a:srgbClr val="3E7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7432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E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62432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&amp; Finance and Asset &amp; Valuation are confirmed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91693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tables stand as designed — no screen check pending.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8974"/>
            </a:avLst>
          </a:prstGeom>
          <a:solidFill>
            <a:srgbClr val="E4EFEA"/>
          </a:solidFill>
          <a:ln w="12700">
            <a:solidFill>
              <a:srgbClr val="3E7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58444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E7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584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46557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 the app safely over office Wi-Fi is confirmed as needed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7581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how the password is shared is a build-time detail, decided when that feature is built.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57200" y="4306824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FFBF3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453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STILL OPEN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47274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“who did this” record can't be double-checked automatically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" y="50932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D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activity log points to a person in the shared login list, but the two filing cabinets can't verify each other automatically — our program code has to get this right on its own.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 — Approval Request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 &amp; SIGN-OFF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Record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2651760"/>
        </p:xfrm>
        <a:graphic>
          <a:graphicData uri="http://schemas.openxmlformats.org/drawingml/2006/table">
            <a:tbl>
              <a:tblPr/>
              <a:tblGrid>
                <a:gridCol w="6675120"/>
                <a:gridCol w="2560320"/>
                <a:gridCol w="2011680"/>
              </a:tblGrid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Decision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Notes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7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design — one shared file + one file per business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☑ Approved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Reflected in §4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Reconciliation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☑ Approved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— see §4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&amp; Finance / Asset &amp; Valuation schemas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☑ Approved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final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password sharing — confirmed as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☑ Approved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method: Phase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open — activity log can't be double-checked automatically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Approve    □ Revise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by:  _______________________        Role:  _______________________        Date:  ______________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5074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Once approved: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5394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D7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starts building each section using this design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D7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future change to the database is made carefully and tracked, never a quick hand edit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D7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remaining item above is revisited before office Wi-Fi sharing (Phase 3) begins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 — Approval Request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2026-09-08T09:08:47Z</dcterms:created>
  <dcterms:modified xsi:type="dcterms:W3CDTF">2026-09-08T09:08:47Z</dcterms:modified>
</cp:coreProperties>
</file>